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c302561314d78" /><Relationship Type="http://schemas.openxmlformats.org/officeDocument/2006/relationships/extended-properties" Target="/docProps/app.xml" Id="R2b9ba5631a9042fc" /><Relationship Type="http://schemas.openxmlformats.org/officeDocument/2006/relationships/officeDocument" Target="/ppt/presentation.xml" Id="Rb8321e4e336d4b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d80b6469eb40d9"/>
  </p:sldMasterIdLst>
  <p:notesMasterIdLst>
    <p:notesMasterId xmlns:r="http://schemas.openxmlformats.org/officeDocument/2006/relationships" r:id="R77dd56429d6241ad"/>
  </p:notesMasterIdLst>
  <p:sldIdLst>
    <p:sldId xmlns:r="http://schemas.openxmlformats.org/officeDocument/2006/relationships" id="256" r:id="R7971dc5ee48f4ad4"/>
    <p:sldId xmlns:r="http://schemas.openxmlformats.org/officeDocument/2006/relationships" id="257" r:id="R53af787661fd4fb4"/>
    <p:sldId xmlns:r="http://schemas.openxmlformats.org/officeDocument/2006/relationships" id="258" r:id="Rbf5e99cd99d9474d"/>
    <p:sldId xmlns:r="http://schemas.openxmlformats.org/officeDocument/2006/relationships" id="259" r:id="Rf66ed05f261d4bd3"/>
    <p:sldId xmlns:r="http://schemas.openxmlformats.org/officeDocument/2006/relationships" id="260" r:id="Rd99bf3ef60c2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8480b67e594a23" /><Relationship Type="http://schemas.openxmlformats.org/officeDocument/2006/relationships/slideMaster" Target="/ppt/slideMasters/slideMaster1.xml" Id="R36d80b6469eb40d9" /><Relationship Type="http://schemas.openxmlformats.org/officeDocument/2006/relationships/notesMaster" Target="/ppt/notesMasters/notesMaster1.xml" Id="R77dd56429d6241ad" /><Relationship Type="http://schemas.openxmlformats.org/officeDocument/2006/relationships/presProps" Target="/ppt/presProps.xml" Id="Rbc846890dc444cae" /><Relationship Type="http://schemas.openxmlformats.org/officeDocument/2006/relationships/tableStyles" Target="/ppt/tableStyles.xml" Id="R5a06dc3b09e84b5e" /><Relationship Type="http://schemas.openxmlformats.org/officeDocument/2006/relationships/slide" Target="/ppt/slides/slide1.xml" Id="R7971dc5ee48f4ad4" /><Relationship Type="http://schemas.openxmlformats.org/officeDocument/2006/relationships/slide" Target="/ppt/slides/slide2.xml" Id="R53af787661fd4fb4" /><Relationship Type="http://schemas.openxmlformats.org/officeDocument/2006/relationships/slide" Target="/ppt/slides/slide3.xml" Id="Rbf5e99cd99d9474d" /><Relationship Type="http://schemas.openxmlformats.org/officeDocument/2006/relationships/slide" Target="/ppt/slides/slide4.xml" Id="Rf66ed05f261d4bd3" /><Relationship Type="http://schemas.openxmlformats.org/officeDocument/2006/relationships/slide" Target="/ppt/slides/slide5.xml" Id="Rd99bf3ef60c2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def08da0d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6f29102924b48" /><Relationship Type="http://schemas.openxmlformats.org/officeDocument/2006/relationships/notesMaster" Target="/ppt/notesMasters/notesMaster1.xml" Id="Redb0ce23c1b5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2ca841c8946a1" /><Relationship Type="http://schemas.openxmlformats.org/officeDocument/2006/relationships/notesMaster" Target="/ppt/notesMasters/notesMaster1.xml" Id="R4c9685ae484544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41e3bceaa94d09" /><Relationship Type="http://schemas.openxmlformats.org/officeDocument/2006/relationships/notesMaster" Target="/ppt/notesMasters/notesMaster1.xml" Id="Rac8eb140b5a0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aabaa9ab83480e" /><Relationship Type="http://schemas.openxmlformats.org/officeDocument/2006/relationships/notesMaster" Target="/ppt/notesMasters/notesMaster1.xml" Id="R706b6d361605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0d5fea0fcb48e5" /><Relationship Type="http://schemas.openxmlformats.org/officeDocument/2006/relationships/notesMaster" Target="/ppt/notesMasters/notesMaster1.xml" Id="Rf3e2dc69935d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POO significa Programação Orientada a Objetos. Para entender sem complicação, vamos usar este robô: ele guarda informações e recebe comandos para cumprir uma missão.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pixel art criado para o projeto, assets/sprites/robo-chapeu-palha.png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classe Robo é o molde: ela diz quais dados e ações todo robô terá. Quando usamos new Robo, criamos um objeto de verdade, que aparece no jogo e pode receber comandos.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Conceito e exemplo: src/mostra/Robo.java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atributos são as informações guardadas dentro do objeto. No nosso robô, posição, direção e bateria descrevem o estado atual. Quando ele se move, esses valores são atualizados.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Conceito e exemplo: src/mostra/Robo.java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métodos são as ações do objeto. Quando chamamos robo.cima, não precisamos mexer diretamente na posição. O próprio método controla a mudança. Essa proteção da lógica interna é uma ideia de encapsulamento.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Comandos: src/mostra/Comando.java</a:t>
            </a:r>
          </a:p>
          <a:p xmlns:a="http://schemas.openxmlformats.org/drawingml/2006/main">
            <a:r>
              <a:t>- Implementação: src/mostra/Robo.java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Resumindo: a classe é o molde, o objeto é o robô criado, os atributos guardam seus dados e os métodos executam ações. Agora vamos ver isso acontecendo: escolham os comandos e tentem levar o robô até a energia.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animada da aplicação Java criada no projeto local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04dff5bf44a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dff138650d4c68" /><Relationship Type="http://schemas.openxmlformats.org/officeDocument/2006/relationships/slideLayout" Target="/ppt/slideLayouts/slideLayout1.xml" Id="R1bcfb894fc22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fb894fc22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3846b74d4157" /><Relationship Type="http://schemas.openxmlformats.org/officeDocument/2006/relationships/image" Target="/ppt/media/image.gif" Id="R871cd58ab5864535" /><Relationship Type="http://schemas.openxmlformats.org/officeDocument/2006/relationships/notesSlide" Target="/ppt/notesSlides/notesSlide1.xml" Id="R4a82ff5d760a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b7e4dd88341a8" /><Relationship Type="http://schemas.openxmlformats.org/officeDocument/2006/relationships/image" Target="/ppt/media/image.png" Id="R8de36fb95f4d4e13" /><Relationship Type="http://schemas.openxmlformats.org/officeDocument/2006/relationships/notesSlide" Target="/ppt/notesSlides/notesSlide2.xml" Id="Rf6f6a828b4e7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1ce1962e44f25" /><Relationship Type="http://schemas.openxmlformats.org/officeDocument/2006/relationships/image" Target="/ppt/media/image2.png" Id="Re73c445d61aa4f42" /><Relationship Type="http://schemas.openxmlformats.org/officeDocument/2006/relationships/notesSlide" Target="/ppt/notesSlides/notesSlide3.xml" Id="Rfd3e09e8ca15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acc1985274e7e" /><Relationship Type="http://schemas.openxmlformats.org/officeDocument/2006/relationships/image" Target="/ppt/media/image2.gif" Id="Rb9087586a875494e" /><Relationship Type="http://schemas.openxmlformats.org/officeDocument/2006/relationships/image" Target="/ppt/media/image3.gif" Id="Re8c3c75dcff2443d" /><Relationship Type="http://schemas.openxmlformats.org/officeDocument/2006/relationships/image" Target="/ppt/media/image4.gif" Id="Rba064834fa514114" /><Relationship Type="http://schemas.openxmlformats.org/officeDocument/2006/relationships/notesSlide" Target="/ppt/notesSlides/notesSlide4.xml" Id="Rd3520b98cab9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a9cc45394983" /><Relationship Type="http://schemas.openxmlformats.org/officeDocument/2006/relationships/image" Target="/ppt/media/image5.gif" Id="R61d5461c0fd5428a" /><Relationship Type="http://schemas.openxmlformats.org/officeDocument/2006/relationships/notesSlide" Target="/ppt/notesSlides/notesSlide5.xml" Id="R1da6556c5c5948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lue-field">
            <a:extLst xmlns:a="http://schemas.openxmlformats.org/drawingml/2006/main">
              <a:ext uri="{FF2B5EF4-FFF2-40B4-BE49-F238E27FC236}">
                <a16:creationId xmlns:a16="http://schemas.microsoft.com/office/drawing/2014/main" id="{6E808D62-7977-49D0-910A-C5FFCE6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ixel-accent-a">
            <a:extLst xmlns:a="http://schemas.openxmlformats.org/drawingml/2006/main">
              <a:ext uri="{FF2B5EF4-FFF2-40B4-BE49-F238E27FC236}">
                <a16:creationId xmlns:a16="http://schemas.microsoft.com/office/drawing/2014/main" id="{DF46AB59-1D6B-4730-85EE-0459BC81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620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xel-accent-b">
            <a:extLst xmlns:a="http://schemas.openxmlformats.org/drawingml/2006/main">
              <a:ext uri="{FF2B5EF4-FFF2-40B4-BE49-F238E27FC236}">
                <a16:creationId xmlns:a16="http://schemas.microsoft.com/office/drawing/2014/main" id="{93712E03-A65B-4790-BE39-B7FFE89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335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8B06334-1875-4D50-A266-B8A25694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MOSTRA DE PROFISSÕES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FC9AAA-C99D-4DBD-96D1-14F07A0D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POO com Java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7EF96F6-D60B-404D-A310-6D112F83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Ensine um robô a cumprir uma missão.</a:t>
            </a:r>
          </a:p>
        </p:txBody>
      </p:sp>
      <p:sp>
        <p:nvSpPr>
          <p:cNvPr id="7" name="idea">
            <a:extLst xmlns:a="http://schemas.openxmlformats.org/drawingml/2006/main">
              <a:ext uri="{FF2B5EF4-FFF2-40B4-BE49-F238E27FC236}">
                <a16:creationId xmlns:a16="http://schemas.microsoft.com/office/drawing/2014/main" id="{30B9AE82-0020-4733-A476-612541CD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Objetos guardam dados e executam ações.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cd58ab5864535"/>
          <a:stretch xmlns:a="http://schemas.openxmlformats.org/drawingml/2006/main"/>
        </p:blipFill>
        <p:spPr>
          <a:xfrm xmlns:a="http://schemas.openxmlformats.org/drawingml/2006/main">
            <a:off x="8286750" y="1411111"/>
            <a:ext cx="3429000" cy="3654778"/>
          </a:xfrm>
          <a:prstGeom xmlns:a="http://schemas.openxmlformats.org/drawingml/2006/main" prst="rect">
            <a:avLst/>
          </a:prstGeom>
        </p:spPr>
      </p:pic>
      <p:sp>
        <p:nvSpPr>
          <p:cNvPr id="9" name="java-label">
            <a:extLst xmlns:a="http://schemas.openxmlformats.org/drawingml/2006/main">
              <a:ext uri="{FF2B5EF4-FFF2-40B4-BE49-F238E27FC236}">
                <a16:creationId xmlns:a16="http://schemas.microsoft.com/office/drawing/2014/main" id="{991E19C2-64B7-4F85-8883-E288CE77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769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78557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11C41C38-F7F4-4314-A8D3-2D3AC1CE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4977E8-F632-445C-A25A-030BDB71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classe é o molde. O objeto é o robô em ação.</a:t>
            </a:r>
          </a:p>
        </p:txBody>
      </p:sp>
      <p:sp>
        <p:nvSpPr>
          <p:cNvPr id="3" name="class-label">
            <a:extLst xmlns:a="http://schemas.openxmlformats.org/drawingml/2006/main">
              <a:ext uri="{FF2B5EF4-FFF2-40B4-BE49-F238E27FC236}">
                <a16:creationId xmlns:a16="http://schemas.microsoft.com/office/drawing/2014/main" id="{D44CA0CE-2248-49DC-A211-785A0E6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CLASSE</a:t>
            </a:r>
          </a:p>
        </p:txBody>
      </p:sp>
      <p:sp>
        <p:nvSpPr>
          <p:cNvPr id="4" name="class-code-bg">
            <a:extLst xmlns:a="http://schemas.openxmlformats.org/drawingml/2006/main">
              <a:ext uri="{FF2B5EF4-FFF2-40B4-BE49-F238E27FC236}">
                <a16:creationId xmlns:a16="http://schemas.microsoft.com/office/drawing/2014/main" id="{85910369-1053-4564-A9D8-0F65E11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class-code">
            <a:extLst xmlns:a="http://schemas.openxmlformats.org/drawingml/2006/main">
              <a:ext uri="{FF2B5EF4-FFF2-40B4-BE49-F238E27FC236}">
                <a16:creationId xmlns:a16="http://schemas.microsoft.com/office/drawing/2014/main" id="{67FAD92C-4997-4898-BF0F-6200189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3243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Robo 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private Posicao posicao;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private Direcao direcao;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private int bateria;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void cima() { ...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object-label">
            <a:extLst xmlns:a="http://schemas.openxmlformats.org/drawingml/2006/main">
              <a:ext uri="{FF2B5EF4-FFF2-40B4-BE49-F238E27FC236}">
                <a16:creationId xmlns:a16="http://schemas.microsoft.com/office/drawing/2014/main" id="{F6DCC808-1CE2-48CA-ACB1-182E124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OBJETO</a:t>
            </a:r>
          </a:p>
        </p:txBody>
      </p:sp>
      <p:sp>
        <p:nvSpPr>
          <p:cNvPr id="7" name="instance-code-bg">
            <a:extLst xmlns:a="http://schemas.openxmlformats.org/drawingml/2006/main">
              <a:ext uri="{FF2B5EF4-FFF2-40B4-BE49-F238E27FC236}">
                <a16:creationId xmlns:a16="http://schemas.microsoft.com/office/drawing/2014/main" id="{748A39AF-88B2-44A5-A262-44ECEB5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instance-code">
            <a:extLst xmlns:a="http://schemas.openxmlformats.org/drawingml/2006/main">
              <a:ext uri="{FF2B5EF4-FFF2-40B4-BE49-F238E27FC236}">
                <a16:creationId xmlns:a16="http://schemas.microsoft.com/office/drawing/2014/main" id="{2F0D6B52-755B-40A1-B7A5-405EFDD0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Robo robo = new Robo();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36fb95f4d4e13"/>
          <a:stretch xmlns:a="http://schemas.openxmlformats.org/drawingml/2006/main"/>
        </p:blipFill>
        <p:spPr>
          <a:xfrm xmlns:a="http://schemas.openxmlformats.org/drawingml/2006/main">
            <a:off x="7372350" y="29527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10" name="object-copy">
            <a:extLst xmlns:a="http://schemas.openxmlformats.org/drawingml/2006/main">
              <a:ext uri="{FF2B5EF4-FFF2-40B4-BE49-F238E27FC236}">
                <a16:creationId xmlns:a16="http://schemas.microsoft.com/office/drawing/2014/main" id="{E9C37701-12F4-4CB6-8A81-5167E5D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76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classe descreve.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objeto existe e pode agir.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11FFCD1B-7CB5-47C2-8DEB-9765600E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POO COM JAVA  •  2/5</a:t>
            </a:r>
          </a:p>
        </p:txBody>
      </p:sp>
    </p:spTree>
    <p:extLst>
      <p:ext uri="{BB962C8B-B14F-4D97-AF65-F5344CB8AC3E}">
        <p14:creationId xmlns:p14="http://schemas.microsoft.com/office/powerpoint/2010/main" val="15342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">
            <a:extLst xmlns:a="http://schemas.openxmlformats.org/drawingml/2006/main">
              <a:ext uri="{FF2B5EF4-FFF2-40B4-BE49-F238E27FC236}">
                <a16:creationId xmlns:a16="http://schemas.microsoft.com/office/drawing/2014/main" id="{5B8F5B70-6EBE-4772-82CF-977E0BE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F8138B-B425-48FD-B04D-447AFE9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Atributos guardam o estado do robô.</a:t>
            </a:r>
          </a:p>
        </p:txBody>
      </p:sp>
      <p:sp>
        <p:nvSpPr>
          <p:cNvPr id="3" name="support">
            <a:extLst xmlns:a="http://schemas.openxmlformats.org/drawingml/2006/main">
              <a:ext uri="{FF2B5EF4-FFF2-40B4-BE49-F238E27FC236}">
                <a16:creationId xmlns:a16="http://schemas.microsoft.com/office/drawing/2014/main" id="{BF105B8B-C63B-4A36-9B4A-3491866F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Eles respondem: como o objeto está agora?</a:t>
            </a:r>
          </a:p>
        </p:txBody>
      </p:sp>
      <p:sp>
        <p:nvSpPr>
          <p:cNvPr id="4" name="attribute-code-bg">
            <a:extLst xmlns:a="http://schemas.openxmlformats.org/drawingml/2006/main">
              <a:ext uri="{FF2B5EF4-FFF2-40B4-BE49-F238E27FC236}">
                <a16:creationId xmlns:a16="http://schemas.microsoft.com/office/drawing/2014/main" id="{3B1ABD82-576D-4C3F-8744-98969416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attribute-code">
            <a:extLst xmlns:a="http://schemas.openxmlformats.org/drawingml/2006/main">
              <a:ext uri="{FF2B5EF4-FFF2-40B4-BE49-F238E27FC236}">
                <a16:creationId xmlns:a16="http://schemas.microsoft.com/office/drawing/2014/main" id="{CC621984-8AE8-44C8-AC73-320C061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34671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Posicao posicao;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Direcao direcao;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bateria = 100;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c445d61aa4f42"/>
          <a:stretch xmlns:a="http://schemas.openxmlformats.org/drawingml/2006/main"/>
        </p:blipFill>
        <p:spPr>
          <a:xfrm xmlns:a="http://schemas.openxmlformats.org/drawingml/2006/main">
            <a:off x="4953000" y="203835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attr-position">
            <a:extLst xmlns:a="http://schemas.openxmlformats.org/drawingml/2006/main">
              <a:ext uri="{FF2B5EF4-FFF2-40B4-BE49-F238E27FC236}">
                <a16:creationId xmlns:a16="http://schemas.microsoft.com/office/drawing/2014/main" id="{73B2725B-C977-4262-B5C0-8B359945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POSIÇÃO</a:t>
            </a:r>
          </a:p>
        </p:txBody>
      </p:sp>
      <p:sp>
        <p:nvSpPr>
          <p:cNvPr id="8" name="attr-position-copy">
            <a:extLst xmlns:a="http://schemas.openxmlformats.org/drawingml/2006/main">
              <a:ext uri="{FF2B5EF4-FFF2-40B4-BE49-F238E27FC236}">
                <a16:creationId xmlns:a16="http://schemas.microsoft.com/office/drawing/2014/main" id="{DD23A49A-BA97-43B6-BE51-D1F39341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onde ele está no mapa</a:t>
            </a:r>
          </a:p>
        </p:txBody>
      </p:sp>
      <p:sp>
        <p:nvSpPr>
          <p:cNvPr id="9" name="divider-a">
            <a:extLst xmlns:a="http://schemas.openxmlformats.org/drawingml/2006/main">
              <a:ext uri="{FF2B5EF4-FFF2-40B4-BE49-F238E27FC236}">
                <a16:creationId xmlns:a16="http://schemas.microsoft.com/office/drawing/2014/main" id="{8FC874E5-E0FA-42A9-9CEE-4F52DAB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ttr-direction">
            <a:extLst xmlns:a="http://schemas.openxmlformats.org/drawingml/2006/main">
              <a:ext uri="{FF2B5EF4-FFF2-40B4-BE49-F238E27FC236}">
                <a16:creationId xmlns:a16="http://schemas.microsoft.com/office/drawing/2014/main" id="{2C3FF7C5-196F-44E3-8D78-F424F7D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DIREÇÃO</a:t>
            </a:r>
          </a:p>
        </p:txBody>
      </p:sp>
      <p:sp>
        <p:nvSpPr>
          <p:cNvPr id="11" name="attr-direction-copy">
            <a:extLst xmlns:a="http://schemas.openxmlformats.org/drawingml/2006/main">
              <a:ext uri="{FF2B5EF4-FFF2-40B4-BE49-F238E27FC236}">
                <a16:creationId xmlns:a16="http://schemas.microsoft.com/office/drawing/2014/main" id="{7282B488-EC2B-4A66-9883-9F0E116B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onde ele está olhando</a:t>
            </a:r>
          </a:p>
        </p:txBody>
      </p:sp>
      <p:sp>
        <p:nvSpPr>
          <p:cNvPr id="12" name="divider-b">
            <a:extLst xmlns:a="http://schemas.openxmlformats.org/drawingml/2006/main">
              <a:ext uri="{FF2B5EF4-FFF2-40B4-BE49-F238E27FC236}">
                <a16:creationId xmlns:a16="http://schemas.microsoft.com/office/drawing/2014/main" id="{DD35CAFB-6EEF-4700-9918-FAB8E57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ttr-energy">
            <a:extLst xmlns:a="http://schemas.openxmlformats.org/drawingml/2006/main">
              <a:ext uri="{FF2B5EF4-FFF2-40B4-BE49-F238E27FC236}">
                <a16:creationId xmlns:a16="http://schemas.microsoft.com/office/drawing/2014/main" id="{F436DA8A-82B3-4BF9-B0B8-6297B5D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BATERIA</a:t>
            </a:r>
          </a:p>
        </p:txBody>
      </p:sp>
      <p:sp>
        <p:nvSpPr>
          <p:cNvPr id="14" name="attr-energy-copy">
            <a:extLst xmlns:a="http://schemas.openxmlformats.org/drawingml/2006/main">
              <a:ext uri="{FF2B5EF4-FFF2-40B4-BE49-F238E27FC236}">
                <a16:creationId xmlns:a16="http://schemas.microsoft.com/office/drawing/2014/main" id="{D00F3220-7935-4071-B949-96EB33DA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quanta energia ainda resta</a:t>
            </a:r>
          </a:p>
        </p:txBody>
      </p:sp>
      <p:sp>
        <p:nvSpPr>
          <p:cNvPr id="15" name="state-change">
            <a:extLst xmlns:a="http://schemas.openxmlformats.org/drawingml/2006/main">
              <a:ext uri="{FF2B5EF4-FFF2-40B4-BE49-F238E27FC236}">
                <a16:creationId xmlns:a16="http://schemas.microsoft.com/office/drawing/2014/main" id="{44FF3B75-C0F8-408B-9C7B-4F275AB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E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3E91"/>
                </a:solidFill>
                <a:latin typeface="Aptos"/>
                <a:ea typeface="Aptos"/>
                <a:cs typeface="Aptos"/>
              </a:rPr>
              <a:t>Quando o robô anda, seus atributos mudam.</a:t>
            </a:r>
          </a:p>
        </p:txBody>
      </p:sp>
      <p:sp>
        <p:nvSpPr>
          <p:cNvPr id="16" name="footer-3">
            <a:extLst xmlns:a="http://schemas.openxmlformats.org/drawingml/2006/main">
              <a:ext uri="{FF2B5EF4-FFF2-40B4-BE49-F238E27FC236}">
                <a16:creationId xmlns:a16="http://schemas.microsoft.com/office/drawing/2014/main" id="{FF6BF5EC-9264-4D3A-90CC-E1C80DA1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POO COM JAVA  •  3/5</a:t>
            </a:r>
          </a:p>
        </p:txBody>
      </p:sp>
    </p:spTree>
    <p:extLst>
      <p:ext uri="{BB962C8B-B14F-4D97-AF65-F5344CB8AC3E}">
        <p14:creationId xmlns:p14="http://schemas.microsoft.com/office/powerpoint/2010/main" val="1423907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">
            <a:extLst xmlns:a="http://schemas.openxmlformats.org/drawingml/2006/main">
              <a:ext uri="{FF2B5EF4-FFF2-40B4-BE49-F238E27FC236}">
                <a16:creationId xmlns:a16="http://schemas.microsoft.com/office/drawing/2014/main" id="{8B795BB2-E9A6-45B6-8119-86B2901A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2B54E3-207C-492D-A45B-2AADF0B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Métodos transformam comandos em ações.</a:t>
            </a:r>
          </a:p>
        </p:txBody>
      </p:sp>
      <p:sp>
        <p:nvSpPr>
          <p:cNvPr id="3" name="arrow-one">
            <a:extLst xmlns:a="http://schemas.openxmlformats.org/drawingml/2006/main">
              <a:ext uri="{FF2B5EF4-FFF2-40B4-BE49-F238E27FC236}">
                <a16:creationId xmlns:a16="http://schemas.microsoft.com/office/drawing/2014/main" id="{4B8E6C81-928A-406A-A65B-0D83398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" name="arrow-two">
            <a:extLst xmlns:a="http://schemas.openxmlformats.org/drawingml/2006/main">
              <a:ext uri="{FF2B5EF4-FFF2-40B4-BE49-F238E27FC236}">
                <a16:creationId xmlns:a16="http://schemas.microsoft.com/office/drawing/2014/main" id="{E1841BD5-794D-4A3C-9B9C-B03C832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240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87586a875494e"/>
          <a:stretch xmlns:a="http://schemas.openxmlformats.org/drawingml/2006/main"/>
        </p:blipFill>
        <p:spPr>
          <a:xfrm xmlns:a="http://schemas.openxmlformats.org/drawingml/2006/main">
            <a:off x="1000125" y="1428750"/>
            <a:ext cx="2095500" cy="20955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3c75dcff2443d"/>
          <a:stretch xmlns:a="http://schemas.openxmlformats.org/drawingml/2006/main"/>
        </p:blipFill>
        <p:spPr>
          <a:xfrm xmlns:a="http://schemas.openxmlformats.org/drawingml/2006/main">
            <a:off x="5019675" y="1428750"/>
            <a:ext cx="2095500" cy="20955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64834fa514114"/>
          <a:stretch xmlns:a="http://schemas.openxmlformats.org/drawingml/2006/main"/>
        </p:blipFill>
        <p:spPr>
          <a:xfrm xmlns:a="http://schemas.openxmlformats.org/drawingml/2006/main">
            <a:off x="9039225" y="14287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command-up">
            <a:extLst xmlns:a="http://schemas.openxmlformats.org/drawingml/2006/main">
              <a:ext uri="{FF2B5EF4-FFF2-40B4-BE49-F238E27FC236}">
                <a16:creationId xmlns:a16="http://schemas.microsoft.com/office/drawing/2014/main" id="{3FFC3E98-7D45-4331-94FB-E9802D4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robo.cima();</a:t>
            </a:r>
          </a:p>
        </p:txBody>
      </p:sp>
      <p:sp>
        <p:nvSpPr>
          <p:cNvPr id="9" name="command-right">
            <a:extLst xmlns:a="http://schemas.openxmlformats.org/drawingml/2006/main">
              <a:ext uri="{FF2B5EF4-FFF2-40B4-BE49-F238E27FC236}">
                <a16:creationId xmlns:a16="http://schemas.microsoft.com/office/drawing/2014/main" id="{3CD6B31B-C1F2-4AEE-AC07-003C510B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robo.direita();</a:t>
            </a:r>
          </a:p>
        </p:txBody>
      </p:sp>
      <p:sp>
        <p:nvSpPr>
          <p:cNvPr id="10" name="command-item">
            <a:extLst xmlns:a="http://schemas.openxmlformats.org/drawingml/2006/main">
              <a:ext uri="{FF2B5EF4-FFF2-40B4-BE49-F238E27FC236}">
                <a16:creationId xmlns:a16="http://schemas.microsoft.com/office/drawing/2014/main" id="{958EF8CC-FEE9-4EFB-81BE-F7CA52A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robo.pegarItem();</a:t>
            </a:r>
          </a:p>
        </p:txBody>
      </p:sp>
      <p:sp>
        <p:nvSpPr>
          <p:cNvPr id="11" name="method-code-bg">
            <a:extLst xmlns:a="http://schemas.openxmlformats.org/drawingml/2006/main">
              <a:ext uri="{FF2B5EF4-FFF2-40B4-BE49-F238E27FC236}">
                <a16:creationId xmlns:a16="http://schemas.microsoft.com/office/drawing/2014/main" id="{5A330042-5C04-4C5C-B287-3FCA068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572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2" name="method-code">
            <a:extLst xmlns:a="http://schemas.openxmlformats.org/drawingml/2006/main">
              <a:ext uri="{FF2B5EF4-FFF2-40B4-BE49-F238E27FC236}">
                <a16:creationId xmlns:a16="http://schemas.microsoft.com/office/drawing/2014/main" id="{D51C075C-C463-4463-8BBD-26E9311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4038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public void cima() {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mover(Direcao.NORTE);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encapsulation-title">
            <a:extLst xmlns:a="http://schemas.openxmlformats.org/drawingml/2006/main">
              <a:ext uri="{FF2B5EF4-FFF2-40B4-BE49-F238E27FC236}">
                <a16:creationId xmlns:a16="http://schemas.microsoft.com/office/drawing/2014/main" id="{40F4382B-1A0C-4C42-88E6-5C5FF8D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95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ENCAPSULAMENTO</a:t>
            </a:r>
          </a:p>
        </p:txBody>
      </p:sp>
      <p:sp>
        <p:nvSpPr>
          <p:cNvPr id="14" name="encapsulation-copy">
            <a:extLst xmlns:a="http://schemas.openxmlformats.org/drawingml/2006/main">
              <a:ext uri="{FF2B5EF4-FFF2-40B4-BE49-F238E27FC236}">
                <a16:creationId xmlns:a16="http://schemas.microsoft.com/office/drawing/2014/main" id="{B678FECB-2F5C-40A1-82F0-B92F84B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149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comando pede a ação.</a:t>
            </a:r>
          </a:p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método controla como o estado muda.</a:t>
            </a:r>
          </a:p>
        </p:txBody>
      </p:sp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ADD0D741-6524-4AE6-9A8E-DA4C9F3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POO COM JAVA  •  4/5</a:t>
            </a:r>
          </a:p>
        </p:txBody>
      </p:sp>
    </p:spTree>
    <p:extLst>
      <p:ext uri="{BB962C8B-B14F-4D97-AF65-F5344CB8AC3E}">
        <p14:creationId xmlns:p14="http://schemas.microsoft.com/office/powerpoint/2010/main" val="1313653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7AA395C-6945-4AF1-80D0-F93B81E2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10A1A9-3898-4EDC-97D6-197FC5A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Agora você programa o robô.</a:t>
            </a:r>
          </a:p>
        </p:txBody>
      </p:sp>
      <p:sp>
        <p:nvSpPr>
          <p:cNvPr id="3" name="screenshot-border">
            <a:extLst xmlns:a="http://schemas.openxmlformats.org/drawingml/2006/main">
              <a:ext uri="{FF2B5EF4-FFF2-40B4-BE49-F238E27FC236}">
                <a16:creationId xmlns:a16="http://schemas.microsoft.com/office/drawing/2014/main" id="{3C747D26-F4D7-4796-8AA6-27D2EA9E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858000" cy="38862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5461c0fd5428a"/>
          <a:srcRect xmlns:a="http://schemas.openxmlformats.org/drawingml/2006/main" l="0" t="1161" r="0" b="1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581150"/>
            <a:ext cx="6629400" cy="3657600"/>
          </a:xfrm>
          <a:prstGeom xmlns:a="http://schemas.openxmlformats.org/drawingml/2006/main" prst="roundRect">
            <a:avLst>
              <a:gd name="adj" fmla="val 1563"/>
            </a:avLst>
          </a:prstGeom>
        </p:spPr>
      </p:pic>
      <p:sp>
        <p:nvSpPr>
          <p:cNvPr id="5" name="step-one-number">
            <a:extLst xmlns:a="http://schemas.openxmlformats.org/drawingml/2006/main">
              <a:ext uri="{FF2B5EF4-FFF2-40B4-BE49-F238E27FC236}">
                <a16:creationId xmlns:a16="http://schemas.microsoft.com/office/drawing/2014/main" id="{C8D2A638-76DE-4B2F-BCD5-19793119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38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ep-one">
            <a:extLst xmlns:a="http://schemas.openxmlformats.org/drawingml/2006/main">
              <a:ext uri="{FF2B5EF4-FFF2-40B4-BE49-F238E27FC236}">
                <a16:creationId xmlns:a16="http://schemas.microsoft.com/office/drawing/2014/main" id="{3BCB81C3-8E66-4EAE-AB9A-A03CE1A6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Monte a sequência</a:t>
            </a:r>
          </a:p>
        </p:txBody>
      </p:sp>
      <p:sp>
        <p:nvSpPr>
          <p:cNvPr id="7" name="step-two-number">
            <a:extLst xmlns:a="http://schemas.openxmlformats.org/drawingml/2006/main">
              <a:ext uri="{FF2B5EF4-FFF2-40B4-BE49-F238E27FC236}">
                <a16:creationId xmlns:a16="http://schemas.microsoft.com/office/drawing/2014/main" id="{0768C496-5496-4A41-BB5C-ABAEE31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step-two">
            <a:extLst xmlns:a="http://schemas.openxmlformats.org/drawingml/2006/main">
              <a:ext uri="{FF2B5EF4-FFF2-40B4-BE49-F238E27FC236}">
                <a16:creationId xmlns:a16="http://schemas.microsoft.com/office/drawing/2014/main" id="{55B3C0B8-7CA2-4A88-AA0D-915AE89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Execute o código</a:t>
            </a:r>
          </a:p>
        </p:txBody>
      </p:sp>
      <p:sp>
        <p:nvSpPr>
          <p:cNvPr id="9" name="step-three-number">
            <a:extLst xmlns:a="http://schemas.openxmlformats.org/drawingml/2006/main">
              <a:ext uri="{FF2B5EF4-FFF2-40B4-BE49-F238E27FC236}">
                <a16:creationId xmlns:a16="http://schemas.microsoft.com/office/drawing/2014/main" id="{E1C59E49-A654-445E-A493-5B6FCBA4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69F5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69F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step-three">
            <a:extLst xmlns:a="http://schemas.openxmlformats.org/drawingml/2006/main">
              <a:ext uri="{FF2B5EF4-FFF2-40B4-BE49-F238E27FC236}">
                <a16:creationId xmlns:a16="http://schemas.microsoft.com/office/drawing/2014/main" id="{33B2E2A8-CC31-46B0-A9E8-E70D40B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Veja o objeto agir</a:t>
            </a:r>
          </a:p>
        </p:txBody>
      </p:sp>
      <p:sp>
        <p:nvSpPr>
          <p:cNvPr id="11" name="summary-band">
            <a:extLst xmlns:a="http://schemas.openxmlformats.org/drawingml/2006/main">
              <a:ext uri="{FF2B5EF4-FFF2-40B4-BE49-F238E27FC236}">
                <a16:creationId xmlns:a16="http://schemas.microsoft.com/office/drawing/2014/main" id="{367DB371-3E25-49F7-A186-B17496D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361950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2" name="summary">
            <a:extLst xmlns:a="http://schemas.openxmlformats.org/drawingml/2006/main">
              <a:ext uri="{FF2B5EF4-FFF2-40B4-BE49-F238E27FC236}">
                <a16:creationId xmlns:a16="http://schemas.microsoft.com/office/drawing/2014/main" id="{B97624C3-B1B9-4637-BB43-6F5C6B21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3E9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3E91"/>
                </a:solidFill>
                <a:latin typeface="Aptos"/>
                <a:ea typeface="Aptos"/>
                <a:cs typeface="Aptos"/>
              </a:rPr>
              <a:t>POO = dados + ações</a:t>
            </a:r>
          </a:p>
        </p:txBody>
      </p:sp>
      <p:sp>
        <p:nvSpPr>
          <p:cNvPr id="13" name="closing">
            <a:extLst xmlns:a="http://schemas.openxmlformats.org/drawingml/2006/main">
              <a:ext uri="{FF2B5EF4-FFF2-40B4-BE49-F238E27FC236}">
                <a16:creationId xmlns:a16="http://schemas.microsoft.com/office/drawing/2014/main" id="{670A0DB2-D674-4170-ABF3-491CD994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Seu desafio: leve o robô até a energia.</a:t>
            </a:r>
          </a:p>
        </p:txBody>
      </p: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847A0C9D-4D12-49BA-864B-86929FB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POO COM JAVA  •  5/5</a:t>
            </a:r>
          </a:p>
        </p:txBody>
      </p:sp>
    </p:spTree>
    <p:extLst>
      <p:ext uri="{BB962C8B-B14F-4D97-AF65-F5344CB8AC3E}">
        <p14:creationId xmlns:p14="http://schemas.microsoft.com/office/powerpoint/2010/main" val="1921786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2026-09-03T22:58:26.7840000Z</dcterms:created>
  <dcterms:modified xsi:type="dcterms:W3CDTF">2026-09-03T22:58:26.7840000Z</dcterms:modified>
</coreProperties>
</file>